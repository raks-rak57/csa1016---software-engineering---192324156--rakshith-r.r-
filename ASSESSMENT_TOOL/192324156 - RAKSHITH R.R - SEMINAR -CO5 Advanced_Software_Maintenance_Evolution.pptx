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IT Budget Share Spent Servicing Debt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IT Budget Spent Servicing Technical Debt</c:v>
                </c:pt>
              </c:strCache>
            </c:strRef>
          </c:tx>
          <c:spPr>
            <a:solidFill>
              <a:srgbClr val="B87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Transportation
&amp; Logistics</c:v>
                  </c:pt>
                  <c:pt idx="1">
                    <c:v>Financial
Services</c:v>
                  </c:pt>
                  <c:pt idx="2">
                    <c:v>Manufacturing</c:v>
                  </c:pt>
                  <c:pt idx="3">
                    <c:v>Global
Average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35</c:v>
                </c:pt>
                <c:pt idx="2">
                  <c:v>32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Calibri"/>
              </a:rPr>
              <a:t>Revenue Growth vs. Debt Level (Accenture)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(2024-26 proj.)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Lower Technical Debt</c:v>
                  </c:pt>
                  <c:pt idx="1">
                    <c:v>Higher Technical Debt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</c:v>
                </c:pt>
                <c:pt idx="1">
                  <c:v>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760720"/>
            <a:ext cx="2377440" cy="2377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Software Maintenance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Evolution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Handling Technical Debt, Refactoring,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Legacy System Management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Diagrams  •  Real-World Case Studies  •  Financial Data  •  Industry Techniques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Software Maintenance &amp; Evolution   |   B.E./B.Tech Software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647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647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Maintenance &amp; Evolution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221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types, Lehman's Laws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647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52360" y="17647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221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quadrant, causes, financial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821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37360" y="3182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36393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Techniques, workflow, tooling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821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52360" y="3182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Management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6393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modernization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994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37360" y="4599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5056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case studies, incidents, ROI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994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452360" y="4599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Takeaways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056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 for teams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Maintenance &amp; Evolution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Maintenance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modifying a software system after delivery to correct faults, improve performance, or adapt to a changed environment (IEEE 14764).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143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Evolution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162763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continuous, long-term process by which software systems change and adapt over their entire lifetime — maintenance is one mechanism through which evolution happens.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consumes 60–80% of total software lifecycle cost and effort in most organizations.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03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software spends far more of its life being maintained than being built.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52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43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managed evolution compounds into technical debt, brittle architecture, and rising delivery risk.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01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892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maintenance is now a board-level concern, not just an engineering task.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Software Maintenance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6974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defects and bugs discovered after release.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typical maintenance effort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3258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3258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B87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737360"/>
            <a:ext cx="2697480" cy="411480"/>
          </a:xfrm>
          <a:prstGeom prst="rect">
            <a:avLst/>
          </a:prstGeom>
          <a:solidFill>
            <a:srgbClr val="B8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4356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3317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software to changing environments (OS, hardware, regulations).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5760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typical maintenance effort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3258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737360"/>
            <a:ext cx="2697480" cy="4114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4356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Perfective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23317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performance, usability, or maintainability of working software.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8368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typical maintenance effort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26880" y="132588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3258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0" y="1737360"/>
            <a:ext cx="2697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14356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09760" y="23317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code to prevent future faults — includes proactive refactoring.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0976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~4%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50976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typical maintenance effort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Lientz &amp; Swanson maintenance-effort distribution model, widely cited across SE literature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Lehman's Laws of Software Evolution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Manny Lehman (1974–1996) formalized how large software systems change over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5681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must continually adapt or it becomes progressively less useful.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770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Complexity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00837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system evolves, its complexity increases unless work is done to reduce it — the root of technical debt.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22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22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Regulation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system evolution is self-regulating, with measures of growth trend statistically.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873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800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Familiarity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11149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growth rate of a system tends to remain roughly constant release over release.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719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719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16459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Organizational Stability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195681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perceived rate of change stays constant over the system's lifetime.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60604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770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770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86600" y="26974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Growth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300837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content must keep growing to maintain user satisfaction.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36576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22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822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86600" y="37490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Quality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405993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declines unless systems are rigorously maintained and adapted.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70916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873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086600" y="4800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System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111496"/>
            <a:ext cx="4434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is a multi-level, multi-loop feedback process — treat it as a system, not isolated fixes.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Evolution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is a closed loop — every release re-enters the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80460" y="1725473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80460" y="1725473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83031" y="2531516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B87A1E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83031" y="2531516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83031" y="4143604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83031" y="414360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80460" y="4949647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B87A1E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80460" y="4949647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77889" y="4143604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7889" y="4143604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77889" y="2531516"/>
            <a:ext cx="1600200" cy="914400"/>
          </a:xfrm>
          <a:prstGeom prst="roundRect">
            <a:avLst>
              <a:gd name="adj" fmla="val 9000"/>
            </a:avLst>
          </a:prstGeom>
          <a:solidFill>
            <a:srgbClr val="B87A1E"/>
          </a:solidFill>
          <a:ln/>
          <a:effectLst>
            <a:outerShdw sx="100000" sy="100000" kx="0" ky="0" algn="bl" rotWithShape="0" blurRad="50800" dist="25400" dir="5400000">
              <a:srgbClr val="22222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77889" y="2531516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2926080"/>
            <a:ext cx="1737360" cy="1737360"/>
          </a:xfrm>
          <a:prstGeom prst="ellipse">
            <a:avLst/>
          </a:prstGeom>
          <a:solidFill>
            <a:srgbClr val="F4F6FB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9260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2651760"/>
            <a:ext cx="29718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83464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stages — e.g. releasing without impact analysis — is a leading cause of technical debt accumulation and legacy fragility.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Technical Debt?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coined by Ward Cunningham (1992), borrowing directly from finance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shortcuts in design or code to ship faster now means paying compounding ‘interest’ later — in the form of slower development, more bugs, and higher maintenance cost.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543800" y="1600200"/>
            <a:ext cx="4114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Debt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4692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= loan amount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4692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= shortcut / quick 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0" y="2423160"/>
            <a:ext cx="3886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= cost of borrowing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4692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= extra dev effort each release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3154680"/>
            <a:ext cx="3886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paid off in installments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4692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off via refactoring / rewrites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3886200"/>
            <a:ext cx="3886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663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debt risks default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46920" y="4663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debt risks system failure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4617720"/>
            <a:ext cx="3886200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technical debt is estimated at $2+ trillion annually and 61 billion developer workdays of repair time (2025 data) — details ahead.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Technical Debt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Debt Quadrant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Fowler's framework — not all debt is created with the same intent or awareness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23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INADVERTENT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600200"/>
            <a:ext cx="3931920" cy="2240280"/>
          </a:xfrm>
          <a:prstGeom prst="rect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&amp; Deliberate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40280" y="2286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have time for design.” Shortcuts taken knowingly, without care.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3931920" cy="2240280"/>
          </a:xfrm>
          <a:prstGeom prst="rect">
            <a:avLst/>
          </a:prstGeom>
          <a:solidFill>
            <a:srgbClr val="B87A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Reckless &amp; Inadvertent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2286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a design pattern?” Debt from lack of skill or awareness.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40480"/>
            <a:ext cx="3931920" cy="224028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 &amp; Deliberate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40280" y="4526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must ship now; we'll deal with consequences later.” Conscious, planned trade-off.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840480"/>
            <a:ext cx="3931920" cy="2240280"/>
          </a:xfrm>
          <a:prstGeom prst="rect">
            <a:avLst/>
          </a:prstGeom>
          <a:solidFill>
            <a:srgbClr val="2E7D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 &amp; Inadvertent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2200" y="4526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we know how we should have done it.” Debt discovered only in hindsight.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Technical Debt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 of Technical Debt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36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Pressure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features before design or tests are complete.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36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Requirements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shifting specs force rework and patchwork fixes.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536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103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Knowledge Gaps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51460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Unfamiliarity with patterns, tools, or the existing codebase.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70264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4856" y="1536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34856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34856" y="21031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Architecture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34856" y="251460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don't scale with growth — the #1 root cause per Gartner.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FD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730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7A1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42976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Dependencies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" y="4709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upgrades to libraries, frameworks, and platforms.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3566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FD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3730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7A1E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0440" y="42976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Tests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20440" y="4709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net, so every change risks new debt to "work around" bugs.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63056" y="3566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FD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3730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7A1E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27648" y="42976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Business-Only KPIs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327648" y="4709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rewarded; quality and maintainability not tracked or funded.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70264" y="3566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FDD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34856" y="3730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7A1E"/>
          </a:solidFill>
          <a:ln/>
        </p:spPr>
      </p:sp>
      <p:sp>
        <p:nvSpPr>
          <p:cNvPr id="40" name="Text 38"/>
          <p:cNvSpPr/>
          <p:nvPr/>
        </p:nvSpPr>
        <p:spPr>
          <a:xfrm>
            <a:off x="9134856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34856" y="42976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Ownership Churn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34856" y="4709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context as engineers rotate off systems with no documentation.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Technical Debt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Financial Scale of Technical Debt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research, 2025–2026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099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$2.41T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14600" y="170992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cost of technical debt in the US alone (WSJ / Accenture)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272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312724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workdays needed globally to repair accumulated tech debt (CAST,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4456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21–40%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454456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IT budgets consumed servicing technical debt (Deloitte, 2026)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852160" y="16002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Protiviti Global Technology Executive Survey; Deloitte 2026 Global Technology Leadership Study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Technical Debt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Incident: Knight Capital Group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$440–460 MILLION LOST IN 45 MINUTES — August 1, 2012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deployed new trading software (SMARS) to 8 production servers.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dormant, deprecated function called “Power Peg” (legacy code from 2003) was never removed — only disabled via a flag.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code reused that same flag for a different purpose.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8 servers failed to receive the update — the old Power Peg logic silently reactivated on it.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45 minutes: 4 million trade executions, 397 million shares, across 154 stocks with no risk limits.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1920240"/>
            <a:ext cx="4617720" cy="4343400"/>
          </a:xfrm>
          <a:prstGeom prst="roundRect">
            <a:avLst>
              <a:gd name="adj" fmla="val 1684"/>
            </a:avLst>
          </a:prstGeom>
          <a:solidFill>
            <a:srgbClr val="141B4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2450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272491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~75% in two trading days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69480" y="31638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34381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by Getco within months to survive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38770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penalty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15137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 million fine for risk-control failures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4590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86460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undeleted legacy code, no automated deployment checks, no kill switch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69480" y="57424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legacy code that is “disabled but not deleted” is still technical debt — and still a live risk.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Case Incidents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 in the Headlines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61872" y="14813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Airlines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~13,000 flights canceled in Dec 2022 after outdated crew-scheduling systems failed to recover from a winter storm — a widely cited legacy-systems failure (WSJ).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463040"/>
            <a:ext cx="384048" cy="384048"/>
          </a:xfrm>
          <a:prstGeom prst="ellipse">
            <a:avLst/>
          </a:prstGeom>
          <a:solidFill>
            <a:srgbClr val="B87A1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76872" y="14813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TSB Bank (UK)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botched core banking migration off a legacy platform locked ~1.9M customers out of accounts; cost the bank an estimated £330M+ in fines, remediation, and compensation.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61872" y="38130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COBOL-Dependent Banking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220 billion lines of COBOL remain in production, powering roughly $3 trillion in daily commerce — with a shrinking pool of maintainers.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794760"/>
            <a:ext cx="384048" cy="384048"/>
          </a:xfrm>
          <a:prstGeom prst="ellipse">
            <a:avLst/>
          </a:prstGeom>
          <a:solidFill>
            <a:srgbClr val="B87A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76872" y="38130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“Boy Scout Rule” Era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43434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engineering culture historically mandated leaving code “cleaner than you found it,” institutionalizing continuous, incremental debt reduction.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Case Incidents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Refactoring: Definition &amp;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disciplined technique for restructuring existing code, altering its internal structure without changing its external behavior. (Martin Fowler)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743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is tiny and independently verifiable — never a big-bang rewrite.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8828" y="2743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33882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93008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Behavior-Preserving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Externally observable behavior must stay identical before and after.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46036" y="2743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146036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0216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Test-Backed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automated test suite is a prerequisite, not optional.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70264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53244" y="2743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953244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07424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07424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constantly in small increments (“boy scout rule”), not as a one-off project.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each desired change, make the change easy (warning: this may be hard), then make the easy change.” — Kent Beck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Refactoring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Refactoring Techniques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7ECFA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002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Method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long method into smaller, named, reusable pieces.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280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7ECFA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141732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002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Variable / Method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0440" y="224028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clarity so code communicates intent.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1280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7ECFA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0216" y="141732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6002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27648" y="224028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 overloaded class into focused, single-responsibility classes.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70264" y="12801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7ECFA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07424" y="141732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160020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Conditional with Polymorphism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34856" y="224028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complex if/switch chains using OOP dispatch.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6616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490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Method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3891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indirection when a method body is as clear as its name.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34290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3008" y="356616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7490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Method / Field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20440" y="43891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behavior/data to the class it logically belongs to.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3056" y="34290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356616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327648" y="37490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Parameter Object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27648" y="43891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parameters passed together into one object.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70264" y="34290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D6DD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07424" y="3566160"/>
            <a:ext cx="2331720" cy="5486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134856" y="37490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Conditional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34856" y="43891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complex boolean logic into well-named methods.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Refactoring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Refactoring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Development's Red → Green → Refactor cycle keeps refactoring safe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222222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13632" y="3090672"/>
            <a:ext cx="630936" cy="40233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0" y="21945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2E7D5B"/>
          </a:solidFill>
          <a:ln/>
          <a:effectLst>
            <a:outerShdw sx="100000" sy="100000" kx="0" ky="0" algn="bl" rotWithShape="0" blurRad="63500" dist="25400" dir="5400000">
              <a:srgbClr val="222222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minimal code to pass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25512" y="3090672"/>
            <a:ext cx="630936" cy="40233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21945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B87A1E"/>
          </a:solidFill>
          <a:ln/>
          <a:effectLst>
            <a:outerShdw sx="100000" sy="100000" kx="0" ky="0" algn="bl" rotWithShape="0" blurRad="63500" dist="25400" dir="5400000">
              <a:srgbClr val="222222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12480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structure — tests stay green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V="1">
            <a:off x="7955280" y="4526280"/>
            <a:ext cx="365760" cy="914400"/>
          </a:xfrm>
          <a:prstGeom prst="bentConnector3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058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continuously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Discipline: Separate Commits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mix a refactor with a feature or bug-fix change in the same commit — it makes review, rollback, and blame-tracing far harder.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Refactoring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System Management: 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Technology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languages, frameworks, or OS versions (e.g., COBOL, mainframes).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498848" y="15087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98848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560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developers gone; little to no documentation of business rules.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15087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6176" y="2560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 where one change risks breaking unrelated features.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Coverage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892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high-risk because there's no safety net to catch regressions.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5968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498848" y="3840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98848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Exposure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4892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attacks exploiting known, unpatched weaknesses.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3296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66176" y="3840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8266176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266176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Criticality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66176" y="4892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runs core revenue operations — too risky to touch, too costly to replace.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Legacy Systems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Modernization Strategies — The 6 R's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4475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202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“Lift and shift” to new infrastructure with minimal code change.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B87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44475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87A1E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202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new platform with small, targeted optimizations.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83296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7888" y="144475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8247888" y="192024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/ Re-architect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47888" y="237744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code and architecture while preserving behavior.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776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5196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470916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and rewrite the application from scratch on modern stack.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5968" y="3611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5B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776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25196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470916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system and adopt a commercial/SaaS alternative.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83296" y="36118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9050">
            <a:solidFill>
              <a:srgbClr val="141B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3776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4251960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7888" y="4709160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functionality that's no longer needed.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Risk increase left → right, top → bottom, roughly in this order: Retire &lt; Rehost &lt; Replatform &lt; Replace &lt; Refactor &lt; Rebuild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Legacy Systems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Strangler Fig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Fowler's incremental strategy for replacing legacy systems without a risky big-bang rewrite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Route via Facade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B87A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/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2075688"/>
            <a:ext cx="704088" cy="512064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2587752" y="2075688"/>
            <a:ext cx="100584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Incrementally Migrate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B87A1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/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447288"/>
            <a:ext cx="382219" cy="512064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65883" y="3447288"/>
            <a:ext cx="452628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Legacy Fully Retired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B87A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54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/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4818888"/>
            <a:ext cx="824789" cy="51206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1691640"/>
            <a:ext cx="274320" cy="22860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(shrinking)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2057400"/>
            <a:ext cx="274320" cy="2286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 (growing)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78240" y="2423160"/>
            <a:ext cx="274320" cy="228600"/>
          </a:xfrm>
          <a:prstGeom prst="rect">
            <a:avLst/>
          </a:prstGeom>
          <a:solidFill>
            <a:srgbClr val="B87A1E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Facade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functionality is built outside the legacy system; a facade routes traffic between old and new until the legacy system can be “strangled” out entirely — used by Shopify, Amazon, and many banks during core-platform migrations.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Legacy Systems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Practice: How Companies Manage Debt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 strict code-review + readability certification culture; runs one of the largest monorepos with automated large-scale refactoring tools (e.g., Rosie) to update patterns across billions of lines.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5968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28016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315968" y="150876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84708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chaos engineering (Chaos Monkey) to surface fragile legacy dependencies proactively, and rebuilt its monolith into microservices to support massive scale during its cloud migration.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280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28016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150876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184708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Popularized “continuous deployment + blameless postmortems,” deploying dozens of times a day so small refactors ship safely and legacy risk doesn't accumulate.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7764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431596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modular monolith + Strangler Fig approach to decompose its core Ruby platform incrementally rather than a risky rewrite, preserving uptime for merchants.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5968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37490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4315968" y="397764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431596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multi-year internal initiative migrating legacy Win32/COM systems and codebases to modern .NET, funding it as a dedicated engineering investment line.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83296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37490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3296" y="3977640"/>
            <a:ext cx="356616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0456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/ Stripe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47888" y="4315968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dedicated “debt sprints” and internal tooling (static analysis, dependency-freshness dashboards) to keep technical debt visible and prioritized alongside features.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Real-World Practice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the ROI of Paying Down Debt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Tooling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Sonar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analysis; quantifies debt in remediation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Highlight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technical debt &amp; risk mapping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CodeScene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code analysis — hotspots by change frequency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/ Dependabot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dependency &amp; vulnerability updates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188720"/>
          <a:ext cx="5623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035040" y="416052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4315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ROI of Debt Reduction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20–40%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gains from systematic debt reduction (McKinsey)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higher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for organizations that ignore debt vs. those that address it early (Gartner)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665+ applications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by one enterprise through disciplined modernization, cutting its landscape ~30%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Real-World Practice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Strategic Framework for Managing Debt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debt with static analysis &amp; architecture reviews — you can't manage what you can't see.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9424" y="2834640"/>
            <a:ext cx="118872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B87A1E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business criticality × debt density; fix what blocks revenue or poses risk first.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2834640"/>
            <a:ext cx="118872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434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15–20% of engineering capacity to debt reduction as a standing line item, not an afterthought.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07024" y="2834640"/>
            <a:ext cx="118872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B87A1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“boy scout rule” and “pit-stop sprints” so paydown happens continuously, in small steps.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35824" y="2834640"/>
            <a:ext cx="118872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0010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010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tests, CI gates, and code-quality thresholds to prevent new debt from re-accumulating.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64624" y="2834640"/>
            <a:ext cx="118872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2640" y="182880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B87A1E"/>
          </a:solidFill>
          <a:ln/>
        </p:spPr>
      </p:sp>
      <p:sp>
        <p:nvSpPr>
          <p:cNvPr id="29" name="Text 27"/>
          <p:cNvSpPr/>
          <p:nvPr/>
        </p:nvSpPr>
        <p:spPr>
          <a:xfrm>
            <a:off x="982980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298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29800" y="2788920"/>
            <a:ext cx="1417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debt in business terms (cost, risk, velocity) to secure sustained leadership buy-in.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mature organizations (Google, Shopify, Microsoft) treat technical debt: measured, budgeted, and continuously repaid — not a one-time “clean-up project.”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Best Practices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852160"/>
            <a:ext cx="2103120" cy="21031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maintenance and evolution are not afterthoughts — they consume the majority of a system's lifetime cost, and Lehman's Laws show why change is inevitable.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31343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is a legitimate engineering-finance trade-off — the danger isn't taking it on, it's failing to track and repay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20954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Refactoring, backed by tests and done continuously, is the primary mechanism for repaying that debt safely.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10565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modernization succeeds through incremental strategies like the Strangler Fig pattern — not risky big-bang rewrites.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47488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00176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 (Knight Capital, Southwest, TSB) and real leaders (Google, Netflix, Shopify) both prove the same point: unmanaged debt is a financial and operational risk; managed debt is a competitive advantage.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Further Reading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 — Refactoring: Improving the Design of Existing 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6364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Lehman, M. M. — Laws of Software Evolution (1974–1996)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Cunningham, W. — The WyCash Portfolio Management System (1992, origin of “technical debt”)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63640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Software — “Coding in the Red: The State of Global Technical Debt,”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Insights — “Technical Debt's Penalty on Value and Growth,” 2026 Global Technology Leadership Study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108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Wyman — “Reducing Technical Debt,” 2024 analysis of $6T global growth (2012–2023)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Order &amp; PRMIA Case Study — Knight Capital Group Trading Incident, 2012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— Developer Coefficient Report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— Developer Velocity Index &amp; Technical Debt research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4846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— “Reduce and Manage Technical Debt,” May 2025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2026-08-21T18:18:22Z</dcterms:created>
  <dcterms:modified xsi:type="dcterms:W3CDTF">2026-08-21T18:18:22Z</dcterms:modified>
</cp:coreProperties>
</file>